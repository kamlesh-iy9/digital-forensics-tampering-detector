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5" r:id="rId1"/>
  </p:sldMasterIdLst>
  <p:notesMasterIdLst>
    <p:notesMasterId r:id="rId20"/>
  </p:notesMasterIdLst>
  <p:sldIdLst>
    <p:sldId id="256" r:id="rId2"/>
    <p:sldId id="259" r:id="rId3"/>
    <p:sldId id="260" r:id="rId4"/>
    <p:sldId id="263" r:id="rId5"/>
    <p:sldId id="264" r:id="rId6"/>
    <p:sldId id="265" r:id="rId7"/>
    <p:sldId id="268" r:id="rId8"/>
    <p:sldId id="269" r:id="rId9"/>
    <p:sldId id="270" r:id="rId10"/>
    <p:sldId id="271" r:id="rId11"/>
    <p:sldId id="282" r:id="rId12"/>
    <p:sldId id="328" r:id="rId13"/>
    <p:sldId id="329" r:id="rId14"/>
    <p:sldId id="293" r:id="rId15"/>
    <p:sldId id="284" r:id="rId16"/>
    <p:sldId id="330" r:id="rId17"/>
    <p:sldId id="287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8B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36C43-44E9-4320-BF21-E5786D227CB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1E51-4331-42F0-B69A-9DD480E38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7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231E51-4331-42F0-B69A-9DD480E386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C1A2-AE82-4229-A3BE-6C35A1151D8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C859-18C5-4827-B840-13A3406D90A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A0F8-7535-4842-BC31-5FCF7FE0AF5B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9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2A29-C29F-4720-BE0D-54508E85F33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0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50743-8FB3-4759-8AB6-4B5BB64015C7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1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8C46-20C2-4232-894C-32D6ABB1ED47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0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C838-A090-470A-9EB5-CF73920C6437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6AFA-D4C3-4DE4-B3B2-A4C4C358AE28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A71F-707B-4DEB-BEF8-6F64363B51D3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0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9CC4-8FBD-494D-8054-7FDDFA2F3E1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9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A22AE-88CB-4512-A8CC-AD6F115B1E4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5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FD0-61C0-48FA-8812-6DF5CF761C8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6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DBEF-5BF9-4F3F-931D-7078DE496FDE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340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AD0C-C9E2-4796-B8C4-9E702BBC428A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8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0C78-C0E9-4439-88BC-1ADF03436A3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2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6D43-4FB5-41BD-AD93-9DF2695C9DC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C00C7-C8BE-4B9C-AD91-29C1BF2AEED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CFB303-EB0C-451B-921E-C60AFB284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7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803563" y="1558629"/>
            <a:ext cx="10931236" cy="205740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Title</a:t>
            </a:r>
            <a:endParaRPr lang="en-US" sz="4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661101" y="3975668"/>
            <a:ext cx="4116386" cy="1578150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Student Name: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En. No: </a:t>
            </a: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Semester: </a:t>
            </a:r>
          </a:p>
        </p:txBody>
      </p:sp>
      <p:sp>
        <p:nvSpPr>
          <p:cNvPr id="7" name="Google Shape;239;p1"/>
          <p:cNvSpPr txBox="1">
            <a:spLocks/>
          </p:cNvSpPr>
          <p:nvPr/>
        </p:nvSpPr>
        <p:spPr>
          <a:xfrm>
            <a:off x="2876573" y="366907"/>
            <a:ext cx="6045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Wingdings 3" charset="2"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INTERNSHIP/PROJECT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Wingdings 3" charset="2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344747" y="3975667"/>
            <a:ext cx="4390052" cy="13237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Guided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By: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Prof. Swati Solanki / Internship Mentor 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Assistant Professor, Department of Mobile Application and Technologies / Designation of Mentor and Name of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2890" y="5895539"/>
            <a:ext cx="7371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M. Sc. IT Data Management &amp; Visual Insight (5 Years Integrated)</a:t>
            </a:r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Centre for Professional Courses, Gujarat University, Ahmedabad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55E18-D00B-07F3-8FEC-95EDEB5F1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110" y="115060"/>
            <a:ext cx="2941608" cy="11146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CFEFCD-78D1-C621-BC92-B8A1F4E5E3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3" y="115060"/>
            <a:ext cx="1105099" cy="13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154" y="514451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364" y="1939638"/>
            <a:ext cx="9578827" cy="3532907"/>
          </a:xfrm>
        </p:spPr>
        <p:txBody>
          <a:bodyPr>
            <a:noAutofit/>
          </a:bodyPr>
          <a:lstStyle/>
          <a:p>
            <a:pPr algn="just"/>
            <a:endParaRPr lang="en-US" sz="2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7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448" y="524389"/>
            <a:ext cx="8911687" cy="1008197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061" y="1532586"/>
            <a:ext cx="8915400" cy="51901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 of Technology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Comparative Study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and Problem Statement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Objectives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608" y="491713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3608" y="1888513"/>
            <a:ext cx="9511467" cy="3121369"/>
          </a:xfrm>
        </p:spPr>
        <p:txBody>
          <a:bodyPr>
            <a:normAutofit/>
          </a:bodyPr>
          <a:lstStyle/>
          <a:p>
            <a:pPr algn="just"/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3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381" y="516582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 (cont.)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288" y="1856124"/>
            <a:ext cx="3603786" cy="3699164"/>
          </a:xfrm>
        </p:spPr>
        <p:txBody>
          <a:bodyPr>
            <a:normAutofit/>
          </a:bodyPr>
          <a:lstStyle/>
          <a:p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56597" y="4952931"/>
            <a:ext cx="2531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Figure 1:  Figure Name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0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55694" y="491349"/>
            <a:ext cx="8911687" cy="1154809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Theory (cont.)</a:t>
            </a:r>
            <a:endParaRPr lang="en-US"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5673" y="1646158"/>
            <a:ext cx="9758939" cy="4789004"/>
          </a:xfrm>
        </p:spPr>
        <p:txBody>
          <a:bodyPr numCol="2" spcCol="274320">
            <a:normAutofit/>
          </a:bodyPr>
          <a:lstStyle/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1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779" y="503715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Literature Survey (to be cont.)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643363"/>
              </p:ext>
            </p:extLst>
          </p:nvPr>
        </p:nvGraphicFramePr>
        <p:xfrm>
          <a:off x="1399310" y="1941794"/>
          <a:ext cx="10377055" cy="3743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49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latin typeface="Times New Roman" pitchFamily="18" charset="0"/>
                          <a:cs typeface="Times New Roman" pitchFamily="18" charset="0"/>
                        </a:rPr>
                        <a:t>Paper 1: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latin typeface="Times New Roman" pitchFamily="18" charset="0"/>
                          <a:cs typeface="Times New Roman" pitchFamily="18" charset="0"/>
                        </a:rPr>
                        <a:t>Proposal of Recommender System Based on User Evaluation and Cosmetic Ingredients</a:t>
                      </a:r>
                      <a:r>
                        <a:rPr lang="en-US" sz="1800" b="1" kern="1200" baseline="30000" dirty="0">
                          <a:latin typeface="Times New Roman" pitchFamily="18" charset="0"/>
                          <a:cs typeface="Times New Roman" pitchFamily="18" charset="0"/>
                        </a:rPr>
                        <a:t>[4]</a:t>
                      </a:r>
                      <a:endParaRPr lang="en-US" sz="1800" b="1" kern="1200" baseline="300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2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latin typeface="Times New Roman" pitchFamily="18" charset="0"/>
                          <a:cs typeface="Times New Roman" pitchFamily="18" charset="0"/>
                        </a:rPr>
                        <a:t>Authors: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Rio Iwabuchi, Yoko Nakajima, Hirotoshi Honma, Haruka Aoshima et al.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1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Publication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details: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IEEE, International Conference on Advanced Informatics, Concepts, Theory, and Applications ,</a:t>
                      </a:r>
                      <a:r>
                        <a:rPr lang="en-US" sz="1800" u="none" strike="noStrike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2017.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866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Summary: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v"/>
                      </a:pP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Dataset: @cosme and Bihada-Mania</a:t>
                      </a: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Methodology: IF-IPF</a:t>
                      </a: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lang="en-US" sz="1800" noProof="0" dirty="0">
                          <a:latin typeface="Times New Roman" pitchFamily="18" charset="0"/>
                          <a:cs typeface="Times New Roman" pitchFamily="18" charset="0"/>
                        </a:rPr>
                        <a:t>Authors have defined user categories with similar skin types and for ingredient extraction they have used TF-IPF method. </a:t>
                      </a: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lang="en-US" sz="1800" noProof="0" dirty="0">
                          <a:latin typeface="Times New Roman" pitchFamily="18" charset="0"/>
                          <a:cs typeface="Times New Roman" pitchFamily="18" charset="0"/>
                        </a:rPr>
                        <a:t>The high IF-IPF value product is recommend to the user.</a:t>
                      </a: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kumimoji="0" lang="en-US" sz="180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Here, the Invalidated Product Number</a:t>
                      </a:r>
                      <a:r>
                        <a:rPr kumimoji="0" lang="en-US" sz="18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(IPN) is less than 5%, so this system has certain reliability.</a:t>
                      </a:r>
                    </a:p>
                    <a:p>
                      <a:pPr>
                        <a:buFont typeface="Wingdings" pitchFamily="2" charset="2"/>
                        <a:buChar char="v"/>
                      </a:pPr>
                      <a:r>
                        <a:rPr kumimoji="0" lang="en-US" sz="18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Advantage: Reliable</a:t>
                      </a:r>
                      <a:r>
                        <a:rPr kumimoji="0" lang="en-US" sz="180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due to less number of IPN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7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4851132" y="5736070"/>
            <a:ext cx="340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Figure 3: Flow of 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873" y="1731817"/>
            <a:ext cx="2008909" cy="170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Extract the product whose product category is skin lotion	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2551" y="1690254"/>
            <a:ext cx="2008909" cy="170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Calculate IF-IPF value and sort ingredients according to that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7892" y="1745673"/>
            <a:ext cx="2008909" cy="170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Extract the ingredients contained in the skin lotion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383" y="1731818"/>
            <a:ext cx="2008909" cy="170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From extracted product, extract the product with the number of users who give the specified effect tags &gt; or = threshold value.</a:t>
            </a:r>
          </a:p>
        </p:txBody>
      </p:sp>
      <p:cxnSp>
        <p:nvCxnSpPr>
          <p:cNvPr id="13" name="Straight Arrow Connector 12"/>
          <p:cNvCxnSpPr>
            <a:stCxn id="6" idx="3"/>
            <a:endCxn id="11" idx="1"/>
          </p:cNvCxnSpPr>
          <p:nvPr/>
        </p:nvCxnSpPr>
        <p:spPr>
          <a:xfrm>
            <a:off x="3449782" y="2583872"/>
            <a:ext cx="609601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082145" y="2653144"/>
            <a:ext cx="609601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686804" y="2611582"/>
            <a:ext cx="609601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</p:cNvCxnSpPr>
          <p:nvPr/>
        </p:nvCxnSpPr>
        <p:spPr>
          <a:xfrm>
            <a:off x="10287006" y="3394363"/>
            <a:ext cx="34630" cy="7065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331919" y="4087090"/>
            <a:ext cx="2008909" cy="170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Recommend the product containing the top ingredient of IF-IPF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091" y="706582"/>
            <a:ext cx="2826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910" y="1344877"/>
            <a:ext cx="6581072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50908" y="4073430"/>
            <a:ext cx="6557962" cy="267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790163" y="487051"/>
            <a:ext cx="2962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Experiment Result: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5221" y="1005413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Experiment:1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7927" y="365877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Experiment:2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6982" y="1555493"/>
            <a:ext cx="441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Table 1: High “moisture” effect ingredients and recommended products containing those ingredients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[4]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140" y="5214128"/>
            <a:ext cx="44058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Table  2 : The</a:t>
            </a:r>
            <a:r>
              <a:rPr lang="en-US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top two  IF-IPF values and the number of invalidated products of recommendation skin lotion group</a:t>
            </a:r>
            <a:r>
              <a:rPr lang="en-US" baseline="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[4]</a:t>
            </a:r>
            <a:endParaRPr lang="en-US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44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7779592"/>
              </p:ext>
            </p:extLst>
          </p:nvPr>
        </p:nvGraphicFramePr>
        <p:xfrm>
          <a:off x="1440882" y="1486091"/>
          <a:ext cx="10404754" cy="253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0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3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4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latin typeface="Times New Roman" pitchFamily="18" charset="0"/>
                          <a:cs typeface="Times New Roman" pitchFamily="18" charset="0"/>
                        </a:rPr>
                        <a:t>Paper 2: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r>
                        <a:rPr lang="en-US" sz="1800" b="1" baseline="30000" dirty="0">
                          <a:latin typeface="Times New Roman" pitchFamily="18" charset="0"/>
                          <a:cs typeface="Times New Roman" pitchFamily="18" charset="0"/>
                        </a:rPr>
                        <a:t>[5] 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4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latin typeface="Times New Roman" pitchFamily="18" charset="0"/>
                          <a:cs typeface="Times New Roman" pitchFamily="18" charset="0"/>
                        </a:rPr>
                        <a:t>Authors: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931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Publication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details: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430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Summary: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Font typeface="Wingdings" pitchFamily="2" charset="2"/>
                        <a:buChar char="v"/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62050" y="1843088"/>
            <a:ext cx="11029950" cy="4252912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3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944" y="650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Comparative Study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118919"/>
              </p:ext>
            </p:extLst>
          </p:nvPr>
        </p:nvGraphicFramePr>
        <p:xfrm>
          <a:off x="1634848" y="814763"/>
          <a:ext cx="9750879" cy="445253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  <a:tableStyleId>{D7AC3CCA-C797-4891-BE02-D94E43425B78}</a:tableStyleId>
              </a:tblPr>
              <a:tblGrid>
                <a:gridCol w="425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3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95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Paper Title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Publication and Publication Year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rgbClr val="71A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93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Proposal of Recommender System Based on User Evaluation and Cosmetic Ingredients [4]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Rio Iwabuchi, Yoko Nakajima et al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IEEE, 2017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IF-IPF 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Could be possible to Acquire highly reliable and effective components. 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Paper Title [5]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algn="just">
                        <a:lnSpc>
                          <a:spcPct val="115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9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……</a:t>
                      </a: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0" algn="just">
                        <a:lnSpc>
                          <a:spcPct val="115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2070" marR="4207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7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50143"/>
            <a:ext cx="9883638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and Problem Statement</a:t>
            </a: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831033"/>
            <a:ext cx="9675812" cy="4627432"/>
          </a:xfrm>
        </p:spPr>
        <p:txBody>
          <a:bodyPr>
            <a:normAutofit/>
          </a:bodyPr>
          <a:lstStyle/>
          <a:p>
            <a:pPr algn="just"/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9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36" y="497653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Objectives</a:t>
            </a:r>
            <a:endParaRPr lang="en-US"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6" y="1778543"/>
            <a:ext cx="9564976" cy="4849115"/>
          </a:xfrm>
        </p:spPr>
        <p:txBody>
          <a:bodyPr>
            <a:normAutofit/>
          </a:bodyPr>
          <a:lstStyle/>
          <a:p>
            <a:pPr algn="just"/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9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798" y="533960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5798" y="179875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Tools &amp; Technology: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Spyder 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Platform: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Python 3.6.4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Libraries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NumPy, Pandas, Keras, and other python libraries which are needed for implementation. 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Technique: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Deep Learning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		  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Deep Neural Network Model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5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340" y="520828"/>
            <a:ext cx="8911687" cy="128089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0340" y="1856509"/>
            <a:ext cx="8915400" cy="4031672"/>
          </a:xfrm>
        </p:spPr>
        <p:txBody>
          <a:bodyPr>
            <a:normAutofit/>
          </a:bodyPr>
          <a:lstStyle/>
          <a:p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65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56CF-880E-9869-C0E7-30642E29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  <a:endParaRPr lang="en-IN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557D-25F4-0A79-53BD-76BCCC525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BCE7-F4ED-9239-EF42-63DF6CAA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48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1653" y="503519"/>
            <a:ext cx="8911687" cy="1280890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45" y="1797189"/>
            <a:ext cx="9897485" cy="3777622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11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980" y="459028"/>
            <a:ext cx="8911687" cy="1086438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 (cont..)</a:t>
            </a:r>
            <a:br>
              <a:rPr lang="en-US" sz="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7" y="1648691"/>
            <a:ext cx="9642764" cy="4696691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Kevin Vu, “Deep Learning: Overview and Applications” accessed on 3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November 2019, https://dzone.com/articles/deep-learning-for-manufacturing-overview-amp-appli.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Qing Chang, “A Deep Learning Approach for MIMO-NOMA Downlink Signal Detection” accessed on 19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August 2019, https://www.mdpi.com/1424-8220/19/11/2526/htm#/.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Jiwon Jiong, “For Your Skin Beauty: Mapping Cosmetic Items with Bokeh”, accessed on 14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August 2019, https://towardsdatascience.com/for-your-skin-beauty-mapping-cosmetic-items-with-bokeh-af7523ca68e5.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Rio Iwabuchi et al, “Proposal of Recommender System Based on User Evaluation and Cosmetic Ingredients”, International Conference on Advanced Informatics, Concepts, Theory and Applications, IEEE 2017, 978-1-5386-3001-3.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Yuki Matsunami et al, “Tag Recommendation Method for a Cosmetics Review Recommender System”, iiWAS’17, ACM 2017, 166-170.</a:t>
            </a: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FB303-EB0C-451B-921E-C60AFB2848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302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1174</TotalTime>
  <Words>671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Title</vt:lpstr>
      <vt:lpstr>Abstract</vt:lpstr>
      <vt:lpstr>Outline</vt:lpstr>
      <vt:lpstr>Introduction </vt:lpstr>
      <vt:lpstr>Background Theory (cont.) </vt:lpstr>
      <vt:lpstr>Background Theory (cont.)</vt:lpstr>
      <vt:lpstr>Literature Survey (to be cont.) </vt:lpstr>
      <vt:lpstr>PowerPoint Presentation</vt:lpstr>
      <vt:lpstr>PowerPoint Presentation</vt:lpstr>
      <vt:lpstr>PowerPoint Presentation</vt:lpstr>
      <vt:lpstr>Comparative Study</vt:lpstr>
      <vt:lpstr>Motivation and Problem Statement </vt:lpstr>
      <vt:lpstr>Research Objectives</vt:lpstr>
      <vt:lpstr>Proposed Solution</vt:lpstr>
      <vt:lpstr>Proposed Work</vt:lpstr>
      <vt:lpstr>Proposed Methodology</vt:lpstr>
      <vt:lpstr>Conclusion </vt:lpstr>
      <vt:lpstr>References (cont..)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Swati Solanki</cp:lastModifiedBy>
  <cp:revision>183</cp:revision>
  <dcterms:created xsi:type="dcterms:W3CDTF">2020-03-23T16:33:51Z</dcterms:created>
  <dcterms:modified xsi:type="dcterms:W3CDTF">2026-03-23T09:27:10Z</dcterms:modified>
</cp:coreProperties>
</file>